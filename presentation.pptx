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tiêu đề. Chủ đề: thông tin tuyển sinh lớp 10 năm 2025 tại Việt Nam.</a:t>
            </a:r>
          </a:p>
          <a:p>
            <a:r>
              <a:t>Số liệu toàn bộ bài nói là của KỲ THI NĂM 2025 (năm học 2025–2026).</a:t>
            </a:r>
          </a:p>
          <a:p>
            <a:r>
              <a:t>Nguồn chính: Thông tư 30/2024/TT-BGDĐT.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5 phần. Tổng thời lượng gợi ý: 8–10 phút.</a:t>
            </a:r>
          </a:p>
          <a:p>
            <a:r>
              <a:t>Phần 2 (môn thi, thời gian) và phần 3 (xu hướng toàn quốc) là phần 'luật chơi'.</a:t>
            </a:r>
          </a:p>
          <a:p>
            <a:r>
              <a:t>Phần 4 là số liệu thật của Hà Nội, TP.HCM và Cần Thơ.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điểm cần nhấn:</a:t>
            </a:r>
          </a:p>
          <a:p>
            <a:r>
              <a:t>1) 2025 là năm đầu tiên kỳ thi lớp 10 theo Chương trình GDPT 2018 (VnExpress 8/1/2025; VietnamNet).</a:t>
            </a:r>
          </a:p>
          <a:p>
            <a:r>
              <a:t>2) Quy chế mới: Thông tư 30/2024/TT-BGDĐT ban hành 30/12/2024, hiệu lực 14/02/2025, thay thế Thông tư 11/2014/TT-BGDĐT.</a:t>
            </a:r>
          </a:p>
          <a:p>
            <a:r>
              <a:t>3) Ba nguyên tắc cốt lõi của Bộ GD&amp;ĐT theo bài giới thiệu trên Cổng TTĐT Chính phủ (04/02/2025).</a:t>
            </a:r>
          </a:p>
          <a:p>
            <a:r>
              <a:t>Nguồn: xaydungchinhsach.chinhphu.vn/thong-tu-30-tt-bgddt-quy-che-tuyen-sinh-thcs-va-tuyen-sinh-thpt-11925010810085927.htm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Điều 9 Quy chế (Thông tư 30/2024/TT-BGDĐT): tuyển sinh THPT tổ chức 01 lần/năm theo 01 trong 03 phương thức: xét tuyển, thi tuyển, hoặc kết hợp.</a:t>
            </a:r>
          </a:p>
          <a:p>
            <a:r>
              <a:t>Xét tuyển căn cứ kết quả rèn luyện và học tập các năm học cấp THCS (lưu ban lớp nào thì lấy kết quả năm học lại của lớp đó).</a:t>
            </a:r>
          </a:p>
          <a:p>
            <a:r>
              <a:t>Thi tuyển thực hiện theo Điều 13. Kết hợp = xét tuyển + thi tuyển.</a:t>
            </a:r>
          </a:p>
          <a:p>
            <a:r>
              <a:t>Thẩm quyền lựa chọn phương thức thuộc về địa phương.</a:t>
            </a:r>
          </a:p>
          <a:p>
            <a:r>
              <a:t>Nguồn: Toàn văn Thông tư 30/2024/TT-BGDĐT (PDF) trên Cổng TTĐT Chính phủ.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Điều 13 khoản 1: số môn thi gồm Toán, Ngữ văn và 01 môn thi hoặc bài thi thứ ba do Sở GD&amp;ĐT lựa chọn.</a:t>
            </a:r>
          </a:p>
          <a:p>
            <a:r>
              <a:t>Môn thi thứ ba: chọn trong các môn có đánh giá bằng điểm số ở cấp THCS; không chọn cùng một môn quá 03 năm liên tiếp.</a:t>
            </a:r>
          </a:p>
          <a:p>
            <a:r>
              <a:t>Bài thi thứ ba: là bài thi tổ hợp của một số môn học.</a:t>
            </a:r>
          </a:p>
          <a:p>
            <a:r>
              <a:t>Danh sách môn có thể được chọn (theo VnExpress 08/01/2025): Ngoại ngữ 1, Giáo dục công dân, Khoa học tự nhiên, Lịch sử và Địa lý, Công nghệ, Tin học.</a:t>
            </a:r>
          </a:p>
          <a:p>
            <a:r>
              <a:t>Trường THPT chuyên: thí sinh thi thêm 01 môn chuyên (Điều 13 khoản 1đ).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Điều 13 khoản 1b: môn thi/bài thi thứ ba được công bố sau khi kết thúc học kì I nhưng không muộn hơn ngày 31 tháng 3 hằng năm.</a:t>
            </a:r>
          </a:p>
          <a:p>
            <a:r>
              <a:t>Điều 13 khoản 1a: không chọn cùng một môn thi thứ ba quá 03 năm liên tiếp.</a:t>
            </a:r>
          </a:p>
          <a:p>
            <a:r>
              <a:t>Điều 12: kế hoạch tuyển sinh THPT được công bố trước ngày 31 tháng 3 hằng năm.</a:t>
            </a:r>
          </a:p>
          <a:p>
            <a:r>
              <a:t>Ví dụ 2025: Hà Nội công bố môn thứ ba (Ngoại ngữ) ngày 26/02/2025 — trong hạn.</a:t>
            </a:r>
          </a:p>
          <a:p>
            <a:r>
              <a:t>Nguồn: Toàn văn Thông tư 30/2024/TT-BGDĐT; VnExpress 26/02/2025.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Điều 13 khoản 1c: Ngữ văn 120 phút; Toán 90 hoặc 120 phút; môn thi thứ ba 60 hoặc 90 phút; bài thi tổ hợp 90 hoặc 120 phút.</a:t>
            </a:r>
          </a:p>
          <a:p>
            <a:r>
              <a:t>Điều 13 khoản 1d: nội dung thi nằm trong chương trình GDPT cấp THCS, chủ yếu là lớp 9.</a:t>
            </a:r>
          </a:p>
          <a:p>
            <a:r>
              <a:t>Địa phương chọn mức thời gian cụ thể: ví dụ 2025 — Hà Nội: Toán 120', Ngoại ngữ 60'; TP.HCM: Toán và Ngữ văn 120', Ngoại ngữ 90'; Cần Thơ: Toán và Ngữ văn 120', Ngoại ngữ 60'.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ngày 03/03/2025 (VTV): 63 địa phương đã công bố phương án tuyển sinh lớp 10 năm học 2025–2026; đa số chọn Tiếng Anh là môn thứ ba.</a:t>
            </a:r>
          </a:p>
          <a:p>
            <a:r>
              <a:t>Ngoại lệ: Hà Giang chọn Lịch sử và Địa lý; Bình Thuận chọn Lịch sử và Địa lý nhưng chỉ áp dụng với trường phổ thông dân tộc nội trú, các trường khác thi Tiếng Anh.</a:t>
            </a:r>
          </a:p>
          <a:p>
            <a:r>
              <a:t>03 địa phương chọn xét tuyển: Cà Mau, Vĩnh Long, Gia Lai.</a:t>
            </a:r>
          </a:p>
          <a:p>
            <a:r>
              <a:t>Nguồn: https://vtv.vn/giao-duc/chi-tiet-mon-thi-thu-3-vao-lop-10-cua-63-tinh-thanh-20250303143924782.htm</a:t>
            </a:r>
          </a:p>
          <a:p>
            <a:r>
              <a:t>Ví dụ Tiền Giang: Dân trí, 18–20/01/2025 — https://dantri.com.vn/giao-duc/mon-thi-thu-ba-vao-lop-10-tai-63-tinh-thanh-20250120000312429.htm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Hơn 127.000 thí sinh tham gia kỳ thi lớp 10 Hà Nội năm 2025 (giaoduc247, 2025).</a:t>
            </a:r>
          </a:p>
          <a:p>
            <a:r>
              <a:t>Chỉ tiêu: 79.740 suất vào 122 trường THPT công lập và công lập tự chủ (Tuổi Trẻ, 11/4/2025).</a:t>
            </a:r>
          </a:p>
          <a:p>
            <a:r>
              <a:t>Lịch thi 7–8/6/2025: sáng 7/6 Ngữ văn 120', chiều 7/6 Ngoại ngữ 60', sáng 8/6 Toán 120' (VietnamPlus 24/02/2025; VnExpress 26/02/2025).</a:t>
            </a:r>
          </a:p>
          <a:p>
            <a:r>
              <a:t>Môn thứ ba: Ngoại ngữ (Anh, Pháp, Đức, Nhật, Hàn), công bố 26/2/2025.</a:t>
            </a:r>
          </a:p>
          <a:p>
            <a:r>
              <a:t>Điểm xét tuyển = Toán + Ngữ văn + môn thứ ba + ưu tiên + khuyến khích (VOV2, 24/02/2025).</a:t>
            </a:r>
          </a:p>
          <a:p>
            <a:r>
              <a:t>Điểm chuẩn công bố chiều 4/7, cùng ngày công bố điểm thi (giaoduc247).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tiêu lớp 10 công lập: 70.070 (công bố đầu tháng 4/2025), tương đương khoảng 79% số học sinh tốt nghiệp THCS — Sở GD&amp;ĐT TP.HCM.</a:t>
            </a:r>
          </a:p>
          <a:p>
            <a:r>
              <a:t>Số đăng ký dự thi: 76.435 thí sinh lớp 10 thường; 5.550 thí sinh lớp 10 chuyên; 1.169 thí sinh lớp 10 tích hợp (Sở GD&amp;ĐT TP.HCM, 15/5/2025).</a:t>
            </a:r>
          </a:p>
          <a:p>
            <a:r>
              <a:t>Ngày thi 6–7/6/2025; Ngữ văn và Toán 120 phút; Ngoại ngữ 90 phút.</a:t>
            </a:r>
          </a:p>
          <a:p>
            <a:r>
              <a:t>Nguyện vọng: tối đa 3 NV lớp 10 thường, 2 NV chuyên, 3 NV tích hợp (tổng tối đa 8).</a:t>
            </a:r>
          </a:p>
          <a:p>
            <a:r>
              <a:t>Trúng nguyện vọng nào phải học nguyện vọng đó và không được thay đổi; thí sinh trúng tuyển phải dự thi đủ 3 bài thi và không có bài thi nào bị điểm 0.</a:t>
            </a:r>
          </a:p>
          <a:p>
            <a:r>
              <a:t>Nguồn: Tuổi Trẻ 25/4/2025; Sở GD&amp;ĐT TP.HCM 15/5/2025.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 hoạch tuyển sinh lớp 10 năm học 2025–2026 của TP Cần Thơ: thi tuyển với 3 môn Toán, Ngữ văn và Ngoại ngữ (tiếng Anh hoặc tiếng Pháp); Toán và Ngữ văn 120 phút, Ngoại ngữ 60 phút (Tuổi Trẻ, 19/3/2025 — theo kế hoạch UBND thành phố).</a:t>
            </a:r>
          </a:p>
          <a:p>
            <a:r>
              <a:t>Kỳ thi diễn ra ngày 5 và 6/6/2025.</a:t>
            </a:r>
          </a:p>
          <a:p>
            <a:r>
              <a:t>Có 11.057 thí sinh đăng ký dự thi vào các trường THPT công lập.</a:t>
            </a:r>
          </a:p>
          <a:p>
            <a:r>
              <a:t>Cách tính điểm: tổng điểm 3 môn + điểm ưu tiên (nếu có), làm tròn 2 chữ số thập phân; năm 2025 không nhân hệ số 2 môn Ngữ văn, Toán như trước.</a:t>
            </a:r>
          </a:p>
          <a:p>
            <a:r>
              <a:t>Kết quả được công bố ngày 14/6/2025.</a:t>
            </a:r>
          </a:p>
          <a:p>
            <a:r>
              <a:t>Nguồn: Tuổi Trẻ 19/3/2025 và 14/6/2025.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Điều 13 khoản 6: điểm xét tuyển vào lớp 10 THPT là điểm tổng của các môn thi, bài thi tính theo thang điểm 10 với mỗi môn thi, bài thi.</a:t>
            </a:r>
          </a:p>
          <a:p>
            <a:r>
              <a:t>Cùng khoản: việc công bố điểm chuẩn được thực hiện đồng thời với công bố điểm thi.</a:t>
            </a:r>
          </a:p>
          <a:p>
            <a:r>
              <a:t>Điều 14 khoản 2: điểm ưu tiên cộng vào tổng điểm xét tuyển — nhóm 1: 2,0 điểm; nhóm 2: 1,5 điểm; nhóm 3: 1,0 điểm.</a:t>
            </a:r>
          </a:p>
          <a:p>
            <a:r>
              <a:t>Điều 14 khoản 3: điểm khuyến khích — giải nhất 1,5 điểm; giải nhì 1,0 điểm; giải ba 0,5 điểm (học sinh THCS đạt giải cấp tỉnh do Sở GD&amp;ĐT tổ chức hoặc phối hợp tổ chức).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Điều 14 khoản 1 — 05 nhóm được tuyển thẳng vào THPT:</a:t>
            </a:r>
          </a:p>
          <a:p>
            <a:r>
              <a:t>a) Học sinh trường phổ thông dân tộc nội trú cấp THCS.</a:t>
            </a:r>
          </a:p>
          <a:p>
            <a:r>
              <a:t>b) Học sinh là người dân tộc thiểu số rất ít người.</a:t>
            </a:r>
          </a:p>
          <a:p>
            <a:r>
              <a:t>c) Học sinh là người khuyết tật.</a:t>
            </a:r>
          </a:p>
          <a:p>
            <a:r>
              <a:t>d) Học sinh đạt giải cấp quốc gia do Bộ GD&amp;ĐT tổ chức hoặc phối hợp tổ chức về văn hóa, văn nghệ, thể thao; cuộc thi nghiên cứu khoa học, kĩ thuật.</a:t>
            </a:r>
          </a:p>
          <a:p>
            <a:r>
              <a:t>đ) Học sinh đạt giải trong các cuộc thi quốc tế do Bộ trưởng Bộ GD&amp;ĐT quyết định cử tham dự.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mốc đã được kiểm chứng:</a:t>
            </a:r>
          </a:p>
          <a:p>
            <a:r>
              <a:t>30/12/2024 — Bộ GD&amp;ĐT ban hành Thông tư 30/2024/TT-BGDĐT.</a:t>
            </a:r>
          </a:p>
          <a:p>
            <a:r>
              <a:t>14/02/2025 — Thông tư có hiệu lực.</a:t>
            </a:r>
          </a:p>
          <a:p>
            <a:r>
              <a:t>26/02/2025 — Sở GD&amp;ĐT Hà Nội công bố môn thứ ba là Ngoại ngữ (VnExpress).</a:t>
            </a:r>
          </a:p>
          <a:p>
            <a:r>
              <a:t>Đầu tháng 4/2025 — TP.HCM công bố 70.070 chỉ tiêu lớp 10 công lập (Sở GD&amp;ĐT TP.HCM).</a:t>
            </a:r>
          </a:p>
          <a:p>
            <a:r>
              <a:t>11/4/2025 — Hà Nội công bố 79.740 chỉ tiêu vào 122 trường công lập (Tuổi Trẻ).</a:t>
            </a:r>
          </a:p>
          <a:p>
            <a:r>
              <a:t>5–7/6/2025 — các địa phương tổ chức thi: Cần Thơ 5–6/6; TP.HCM 6–7/6; Hà Nội 7–8/6.</a:t>
            </a:r>
          </a:p>
          <a:p>
            <a:r>
              <a:t>14/6/2025 — Cần Thơ công bố kết quả thi (Tuổi Trẻ).</a:t>
            </a:r>
          </a:p>
          <a:p>
            <a:r>
              <a:t>04/7/2025 — Hà Nội công bố điểm thi và điểm chuẩn cùng ngày (giaoduc247.vn).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được suy ra trực tiếp từ các quy định đã nêu, không thêm dữ kiện mới:</a:t>
            </a:r>
          </a:p>
          <a:p>
            <a:r>
              <a:t>1) Biết địa phương tuyển sinh theo phương thức nào (Điều 9).</a:t>
            </a:r>
          </a:p>
          <a:p>
            <a:r>
              <a:t>2) Theo dõi công bố môn thi thứ ba, muộn nhất 31/3 (Điều 13 khoản 1b).</a:t>
            </a:r>
          </a:p>
          <a:p>
            <a:r>
              <a:t>3) Đọc kỹ kế hoạch tuyển sinh và chỉ tiêu (Điều 12; ví dụ Hà Nội 79.740, TP.HCM 70.070).</a:t>
            </a:r>
          </a:p>
          <a:p>
            <a:r>
              <a:t>4) Ôn chắc kiến thức lớp 9 (Điều 13 khoản 1d).</a:t>
            </a:r>
          </a:p>
          <a:p>
            <a:r>
              <a:t>5) Chuẩn bị hồ sơ cho diện tuyển thẳng / ưu tiên / khuyến khích nếu thuộc diện (Điều 14).</a:t>
            </a:r>
          </a:p>
          <a:p>
            <a:r>
              <a:t>6) TP.HCM: dự thi đủ 3 bài, không để bài nào điểm 0.</a:t>
            </a:r>
          </a:p>
          <a:p>
            <a:r>
              <a:t>7) Nắm quy định nguyện vọng của thành phố mình (ví dụ TP.HCM: trúng NV nào học NV đó).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dành sẵn cho phần hài hước của người trình bày.</a:t>
            </a:r>
          </a:p>
          <a:p>
            <a:r>
              <a:t>Khung lớn bên trên là chỗ dán câu joke: bấm vào khung và gõ đè lên phần chữ trong ngoặc vuông, không cần chỉnh layout.</a:t>
            </a:r>
          </a:p>
          <a:p>
            <a:r>
              <a:t>Câu ở khung dưới là câu an toàn, có thể giữ hoặc xoá: nó chỉ nhắc lại đúng một quy định (môn thứ ba công bố muộn nhất 31/3 hằng năm).</a:t>
            </a:r>
          </a:p>
          <a:p>
            <a:r>
              <a:t>Nguồn quy định: Điều 13 khoản 1b Thông tư 30/2024/TT-BGDĐT.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Danh sách nguồn đầy đủ kèm đường dẫn:</a:t>
            </a:r>
          </a:p>
          <a:p>
            <a:r>
              <a:t>1. Thông tư 30/2024/TT-BGDĐT (toàn văn, PDF) — Bộ GD&amp;ĐT, 30/12/2024: https://xdcs.cdnchinhphu.vn/446259493575335936/2025/1/8/302024ttbgddtsigned-17363169420611167548229.pdf</a:t>
            </a:r>
          </a:p>
          <a:p>
            <a:r>
              <a:t>2. "TOÀN VĂN: Thông tư 30/TT-BGDĐT…" — Cổng TTĐT Chính phủ, 04/02/2025: https://xaydungchinhsach.chinhphu.vn/thong-tu-30-tt-bgddt-quy-che-tuyen-sinh-thcs-va-tuyen-sinh-thpt-11925010810085927.htm</a:t>
            </a:r>
          </a:p>
          <a:p>
            <a:r>
              <a:t>3. "Bộ Giáo dục chốt quy chế thi lớp 10" — VnExpress, 08/01/2025: https://vnexpress.net/bo-giao-duc-chot-quy-che-thi-lop-10-4830885.html</a:t>
            </a:r>
          </a:p>
          <a:p>
            <a:r>
              <a:t>4. "Chi tiết môn thi thứ 3 vào lớp 10 của 63 tỉnh thành" — VTV, 03/03/2025: https://vtv.vn/giao-duc/chi-tiet-mon-thi-thu-3-vao-lop-10-cua-63-tinh-thanh-20250303143924782.htm</a:t>
            </a:r>
          </a:p>
          <a:p>
            <a:r>
              <a:t>5. "Hà Nội công bố môn thứ ba thi lớp 10" — VnExpress, 26/02/2025: https://vnexpress.net/ha-noi-cong-bo-mon-thu-ba-thi-lop-10-4849639.html</a:t>
            </a:r>
          </a:p>
          <a:p>
            <a:r>
              <a:t>6. "Chi tiết lịch thi tuyển sinh vào lớp 10 của Hà Nội năm học 2025-2026" — VietnamPlus, 24/02/2025: https://www.vietnamplus.vn/chi-tiet-lich-thi-tuyen-sinh-vao-lop-10-cua-ha-noi-nam-hoc-2025-2026-post1014045.vnp</a:t>
            </a:r>
          </a:p>
          <a:p>
            <a:r>
              <a:t>7. "Chi tiêu tuyển sinh lớp 10 tại Hà Nội năm 2025: 79.740 suất…" — Tuổi Trẻ, 11/4/2025.</a:t>
            </a:r>
          </a:p>
          <a:p>
            <a:r>
              <a:t>8. "Công bố chỉ tiêu lớp 10 công lập ở TP HCM năm 2025" — VnExpress, 11/4/2025.</a:t>
            </a:r>
          </a:p>
          <a:p>
            <a:r>
              <a:t>9. "TP.HCM công bố số lượng thí sinh đăng ký dự thi tuyển sinh lớp 10 năm học 2025–2026" — Sở GD&amp;ĐT TP.HCM, 15/5/2025.</a:t>
            </a:r>
          </a:p>
          <a:p>
            <a:r>
              <a:t>10. "Môn thi thứ ba vào lớp 10 tại 63 tỉnh thành" — Dân trí, 20/01/2025: https://dantri.com.vn/giao-duc/mon-thi-thu-ba-vao-lop-10-tai-63-tinh-thanh-20250120000312429.htm</a:t>
            </a:r>
          </a:p>
          <a:p>
            <a:r>
              <a:t>11. "Kỳ thi tuyển sinh vào lớp 10 TP Cần Thơ năm nay có gì mới?" — Tuổi Trẻ, 19/3/2025; "Công bố điểm thi vào lớp 10 THPT Cần Thơ, điểm chuẩn giảm" — Tuổi Trẻ, 14/6/2025.</a:t>
            </a:r>
          </a:p>
          <a:p>
            <a:r>
              <a:t>12. Hà Nội: hơn 127.000 thí sinh và công bố điểm chuẩn ngày 4/7 — giaoduc247.vn, 2025.</a:t>
            </a:r>
          </a:p>
          <a:p>
            <a:r>
              <a:t>13. "Điểm xét tuyển" Hà Nội — VOV2, 24/02/2025.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Tóm tắt 3 điều cần nhớ:</a:t>
            </a:r>
          </a:p>
          <a:p>
            <a:r>
              <a:t>1) Thi tuyển lớp 10 = Toán + Ngữ văn + môn thứ ba (công bố muộn nhất 31/3).</a:t>
            </a:r>
          </a:p>
          <a:p>
            <a:r>
              <a:t>2) Điểm xét tuyển theo thang điểm 10 cho mỗi môn; điểm chuẩn công bố cùng ngày với điểm thi.</a:t>
            </a:r>
          </a:p>
          <a:p>
            <a:r>
              <a:t>3) Số liệu bài này là của kỳ thi năm 2025 — các năm sau có thể khác.</a:t>
            </a:r>
          </a:p>
          <a:p>
            <a:r>
              <a:t>Nếu cần bổ sung phần hỏi đáp, thêm slide sau slide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FF3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07008"/>
            <a:ext cx="9509760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F31D"/>
                </a:solidFill>
                <a:latin typeface="Arial"/>
              </a:rPr>
              <a:t>KỲ THI VÀO LỚP 10 · VIỆT NAM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9052560" cy="18288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5400" b="1" i="0">
                <a:solidFill>
                  <a:srgbClr val="F7F9FC"/>
                </a:solidFill>
                <a:latin typeface="Arial"/>
              </a:rPr>
              <a:t>Tuyển sinh lớp 10</a:t>
            </a:r>
          </a:p>
          <a:p>
            <a:pPr algn="l">
              <a:lnSpc>
                <a:spcPct val="92000"/>
              </a:lnSpc>
            </a:pPr>
            <a:r>
              <a:rPr sz="5400" b="1" i="0">
                <a:solidFill>
                  <a:srgbClr val="F7F9FC"/>
                </a:solidFill>
                <a:latin typeface="Arial"/>
              </a:rPr>
              <a:t>năm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8778240" cy="4572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C7CFE0"/>
                </a:solidFill>
                <a:latin typeface="Calibri"/>
              </a:rPr>
              <a:t>Toàn cảnh luật chơi mới và số liệu thật của kỳ thi năm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8768"/>
            <a:ext cx="8778240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Thông tư 30/2024/TT-BGDĐT — hiệu lực 14/02/2025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98848"/>
            <a:ext cx="1189736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C9F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17136"/>
            <a:ext cx="1116584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3 môn thi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8727" y="4498848"/>
            <a:ext cx="2685161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5304" y="4517136"/>
            <a:ext cx="2612009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Môn thứ ba: công bố ≤ 31/3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8481" y="4498848"/>
            <a:ext cx="3466211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FF3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5057" y="4517136"/>
            <a:ext cx="3393059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3D81"/>
                </a:solidFill>
                <a:latin typeface="Calibri"/>
              </a:rPr>
              <a:t>63/63 tỉnh, thành công bố phương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8778240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94AB"/>
                </a:solidFill>
                <a:latin typeface="Calibri"/>
              </a:rPr>
              <a:t>Người trình bày: [Tên của bạn]  ·  Lớp: [Lớp]  ·  [Ngày]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1417320"/>
            <a:ext cx="1783080" cy="1783080"/>
          </a:xfrm>
          <a:prstGeom prst="roundRect">
            <a:avLst>
              <a:gd name="adj" fmla="val 12000"/>
            </a:avLst>
          </a:prstGeom>
          <a:solidFill>
            <a:srgbClr val="1B2440"/>
          </a:solidFill>
          <a:ln w="15875">
            <a:solidFill>
              <a:srgbClr val="C9F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1664208"/>
            <a:ext cx="1783080" cy="9144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5400" b="1" i="0">
                <a:solidFill>
                  <a:srgbClr val="C9F31D"/>
                </a:solidFill>
                <a:latin typeface="Aria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615184"/>
            <a:ext cx="1783080" cy="4572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C7CFE0"/>
                </a:solidFill>
                <a:latin typeface="Calibri"/>
              </a:rPr>
              <a:t>Kỳ thi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C7CFE0"/>
                </a:solidFill>
                <a:latin typeface="Calibri"/>
              </a:rPr>
              <a:t>lớp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10928" y="3401568"/>
            <a:ext cx="1783080" cy="82296"/>
          </a:xfrm>
          <a:prstGeom prst="rect">
            <a:avLst/>
          </a:prstGeom>
          <a:solidFill>
            <a:srgbClr val="FF3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3611880"/>
            <a:ext cx="1783080" cy="10972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A94AB"/>
                </a:solidFill>
                <a:latin typeface="Calibri"/>
              </a:rPr>
              <a:t>Dữ liệu: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94AB"/>
                </a:solidFill>
                <a:latin typeface="Calibri"/>
              </a:rPr>
              <a:t>kỳ thi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22" presetClass="entr" presetSubtype="4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10" presetClass="entr" presetSubtype="0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8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22" presetClass="entr" presetSubtype="4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22" presetClass="entr" presetSubtype="4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10" presetClass="entr" presetSubtype="0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8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22" presetClass="entr" presetSubtype="4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6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22" presetClass="entr" presetSubtype="4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5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10" presetClass="entr" presetSubtype="0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10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8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22" presetClass="entr" presetSubtype="4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4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dur="380" presetID="10" presetClass="entr" presetSubtype="0" fill="hold" grpId="0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NỘI 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Hôm nay nói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29384"/>
            <a:ext cx="82296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F31D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9384"/>
            <a:ext cx="935431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7F9FC"/>
                </a:solidFill>
                <a:latin typeface="Calibri"/>
              </a:rPr>
              <a:t>Luật chơi mới: Thông tư 30/2024/TT-BGDĐT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002536"/>
            <a:ext cx="41148" cy="457200"/>
          </a:xfrm>
          <a:prstGeom prst="rect">
            <a:avLst/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697479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82296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D3E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52344"/>
            <a:ext cx="935431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7F9FC"/>
                </a:solidFill>
                <a:latin typeface="Calibri"/>
              </a:rPr>
              <a:t>Môn thi, thời gian làm bài, nội dung thi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825496"/>
            <a:ext cx="4114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575303"/>
            <a:ext cx="82296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3D81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75303"/>
            <a:ext cx="935431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7F9FC"/>
                </a:solidFill>
                <a:latin typeface="Calibri"/>
              </a:rPr>
              <a:t>Môn thứ ba năm 2025: cả nước chọn gì?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3648456"/>
            <a:ext cx="41148" cy="457200"/>
          </a:xfrm>
          <a:prstGeom prst="rect">
            <a:avLst/>
          </a:prstGeom>
          <a:solidFill>
            <a:srgbClr val="FF3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343400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98264"/>
            <a:ext cx="82296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B703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398264"/>
            <a:ext cx="935431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7F9FC"/>
                </a:solidFill>
                <a:latin typeface="Calibri"/>
              </a:rPr>
              <a:t>Số liệu thật: Hà Nội · TP.HCM · Cần Thơ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4471416"/>
            <a:ext cx="41148" cy="45720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166360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221224"/>
            <a:ext cx="82296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F31D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21224"/>
            <a:ext cx="935431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7F9FC"/>
                </a:solidFill>
                <a:latin typeface="Calibri"/>
              </a:rPr>
              <a:t>Điểm, tuyển thẳng, và checklist trước ngày thi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5294376"/>
            <a:ext cx="41148" cy="457200"/>
          </a:xfrm>
          <a:prstGeom prst="rect">
            <a:avLst/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22" presetClass="entr" presetSubtype="4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22" presetClass="entr" presetSubtype="4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22" presetClass="entr" presetSubtype="4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9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22" presetClass="entr" presetSubtype="4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2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22" presetClass="entr" presetSubtype="4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8" dur="38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22" presetClass="entr" presetSubtype="4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10" presetClass="entr" presetSubtype="0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8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dur="380" presetID="22" presetClass="entr" presetSubtype="4" fill="hold" grpId="0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7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01 · LUẬT CHƠI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Vì sao 2025 là năm bản lề?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47288" cy="36118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057400"/>
            <a:ext cx="3008376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9F31D"/>
                </a:solidFill>
                <a:latin typeface="Arial"/>
              </a:rPr>
              <a:t>Chương trình mới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96312"/>
            <a:ext cx="3008376" cy="245973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2025 là năm đầu tiên kỳ thi tuyển sinh lớp 10 được tổ chức theo Chương trình giáo dục phổ thông 2018.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Học sinh lớp 9 năm học 2024–2025 là lứa đầu tiên thi theo chương trình mới.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5029200"/>
            <a:ext cx="3008376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VnExpress, 08/01/2025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874519"/>
            <a:ext cx="3447288" cy="36118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08376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D3EE"/>
                </a:solidFill>
                <a:latin typeface="Arial"/>
              </a:rPr>
              <a:t>Quy chế mới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3008376" cy="245973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Thông tư 30/2024/TT-BGDĐT ban hành ngày 30/12/2024.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Có hiệu lực từ 14/02/2025 và thay thế Thông tư 11/2014/TT-BGDĐT.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Lần đầu có quy định chung toàn quốc về số môn thi lớp 10.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029200"/>
            <a:ext cx="3008376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Thông tư 30/2024/TT-BGDĐT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74519"/>
            <a:ext cx="3447288" cy="36118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57400"/>
            <a:ext cx="3008376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3D81"/>
                </a:solidFill>
                <a:latin typeface="Arial"/>
              </a:rPr>
              <a:t>3 nguyên tắc của Bộ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96312"/>
            <a:ext cx="3008376" cy="245973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1. Không gây áp lực, tốn kém cho học sinh, phụ huynh và xã hội.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2. Thúc đẩy giáo dục toàn diện, chuẩn bị năng lực cho cấp học cao hơn.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3. Quy định thống nhất toàn quốc, đồng thời phân cấp rõ trách nhiệm.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029200"/>
            <a:ext cx="3008376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Cổng TTĐT Chính phủ, 04/02/2025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10" presetClass="entr" presetSubtype="0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2" grpId="0"/>
      <p:bldP spid="13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01 · LUẬT CHƠI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Có 3 phương thức tuyển sinh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47288" cy="31089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057400"/>
            <a:ext cx="3008376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9F31D"/>
                </a:solidFill>
                <a:latin typeface="Arial"/>
              </a:rPr>
              <a:t>1 · XÉT TUYỂN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96312"/>
            <a:ext cx="3008376" cy="226771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Căn cứ là kết quả rèn luyện và kết quả học tập các năm học cấp THCS.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Không tổ chức thi.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874519"/>
            <a:ext cx="3447288" cy="31089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57400"/>
            <a:ext cx="3008376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D3EE"/>
                </a:solidFill>
                <a:latin typeface="Arial"/>
              </a:rPr>
              <a:t>2 · THI TUYỂN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96312"/>
            <a:ext cx="3008376" cy="226771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Thực hiện theo Điều 13: Toán, Ngữ văn và 01 môn thi hoặc bài thi thứ ba.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Là phương thức phổ biến nhất trong kỳ thi 2025.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74519"/>
            <a:ext cx="3447288" cy="31089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3008376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3D81"/>
                </a:solidFill>
                <a:latin typeface="Arial"/>
              </a:rPr>
              <a:t>3 · KẾT HỢP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96312"/>
            <a:ext cx="3008376" cy="226771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Kết hợp thi tuyển với xét tuyển theo quy định của cả hai phương thức trên.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93792"/>
            <a:ext cx="10817352" cy="658368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2700">
            <a:solidFill>
              <a:srgbClr val="C9F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360152" cy="58521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F31D"/>
                </a:solidFill>
                <a:latin typeface="Calibri"/>
              </a:rPr>
              <a:t>Mỗi địa phương chọn 01 trong 03 phương thức  ·  Tuyển sinh THPT được tổ chức 01 lần/năm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43600"/>
            <a:ext cx="10817352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E7891"/>
                </a:solidFill>
                <a:latin typeface="Calibri"/>
              </a:rPr>
              <a:t>Điều 9 — Quy chế tuyển sinh THCS và THPT (Thông tư 30/2024/TT-BGDĐT)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10" presetClass="entr" presetSubtype="0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02 · MÔN 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Thi tuyển: Toán + Ngữ văn + môn thứ 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179064" cy="96012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5875">
            <a:solidFill>
              <a:srgbClr val="C9F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79"/>
            <a:ext cx="2996183" cy="8686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C9F31D"/>
                </a:solidFill>
                <a:latin typeface="Arial"/>
              </a:rPr>
              <a:t>TOÁN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4864" y="2103120"/>
            <a:ext cx="640080" cy="6858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8A94AB"/>
                </a:solidFill>
                <a:latin typeface="Arial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4944" y="1965960"/>
            <a:ext cx="3179064" cy="96012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6384" y="2011679"/>
            <a:ext cx="2996183" cy="8686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2D3EE"/>
                </a:solidFill>
                <a:latin typeface="Arial"/>
              </a:rPr>
              <a:t>NGỮ VĂN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4007" y="2103120"/>
            <a:ext cx="640080" cy="6858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8A94AB"/>
                </a:solidFill>
                <a:latin typeface="Arial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4088" y="1965960"/>
            <a:ext cx="3179064" cy="96012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5875">
            <a:solidFill>
              <a:srgbClr val="FF3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5528" y="2011679"/>
            <a:ext cx="2996183" cy="8686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3D81"/>
                </a:solidFill>
                <a:latin typeface="Arial"/>
              </a:rPr>
              <a:t>MÔN THỨ 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27248"/>
            <a:ext cx="10817352" cy="329184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7CFE0"/>
                </a:solidFill>
                <a:latin typeface="Calibri"/>
              </a:rPr>
              <a:t>Môn thứ ba được chọn từ các môn có đánh giá bằng điểm số ở cấp THCS: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9584"/>
            <a:ext cx="1399285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547872"/>
            <a:ext cx="1326133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Ngoại ngữ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1389" y="3529584"/>
            <a:ext cx="1926336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965" y="3547872"/>
            <a:ext cx="1853184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Giáo dục công dân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4029" y="3529584"/>
            <a:ext cx="1904111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0606" y="3547872"/>
            <a:ext cx="1830959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Khoa học tự nhiên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4445" y="3529584"/>
            <a:ext cx="1742185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021" y="3547872"/>
            <a:ext cx="1669033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Lịch sử và Địa lý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2934" y="3529584"/>
            <a:ext cx="1284986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510" y="3547872"/>
            <a:ext cx="1211834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Công nghệ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999236" cy="384048"/>
          </a:xfrm>
          <a:prstGeom prst="roundRect">
            <a:avLst>
              <a:gd name="adj" fmla="val 50000"/>
            </a:avLst>
          </a:prstGeom>
          <a:solidFill>
            <a:srgbClr val="1B244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4059935"/>
            <a:ext cx="926084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Tin học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82896"/>
            <a:ext cx="10817352" cy="969264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10360152" cy="8229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Hoặc: bài thi thứ ba là bài thi tổ hợp của một số môn học.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Trường THPT chuyên: thí sinh thi các môn trên và thêm 01 môn chuyên.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61888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E7891"/>
                </a:solidFill>
                <a:latin typeface="Calibri"/>
              </a:rPr>
              <a:t>Nguồn: Điều 13 Thông tư 30/2024/TT-BGDĐT  ·  VnExpress, 08/01/2025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22" presetClass="entr" presetSubtype="4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22" presetClass="entr" presetSubtype="4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2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22" presetClass="entr" presetSubtype="4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8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10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8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22" presetClass="entr" presetSubtype="4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4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dur="380" presetID="10" presetClass="entr" presetSubtype="0" fill="hold" grpId="0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dur="380" presetID="22" presetClass="entr" presetSubtype="4" fill="hold" grpId="0" nodeType="withEffect">
                            <p:stCondLst>
                              <p:cond delay="162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0" dur="38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dur="380" presetID="10" presetClass="entr" presetSubtype="0" fill="hold" grpId="0" nodeType="withEffect">
                            <p:stCondLst>
                              <p:cond delay="171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8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dur="380" presetID="22" presetClass="entr" presetSubtype="4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6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dur="380" presetID="10" presetClass="entr" presetSubtype="0" fill="hold" grpId="0" nodeType="withEffect">
                            <p:stCondLst>
                              <p:cond delay="189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8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dur="380" presetID="22" presetClass="entr" presetSubtype="4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2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dur="380" presetID="10" presetClass="entr" presetSubtype="0" fill="hold" grpId="0" nodeType="withEffect">
                            <p:stCondLst>
                              <p:cond delay="207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8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dur="380" presetID="10" presetClass="entr" presetSubtype="0" fill="hold" grpId="0" nodeType="withEffect">
                            <p:stCondLst>
                              <p:cond delay="216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8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02 · MÔN 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Hai mốc thời gian phải nhớ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271516" cy="196596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48256"/>
            <a:ext cx="4942331" cy="9436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C9F31D"/>
                </a:solidFill>
                <a:latin typeface="Arial"/>
              </a:rPr>
              <a:t>31/3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03220"/>
            <a:ext cx="4942331" cy="90434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Hạn muộn nhất để công bố môn thi hoặc bài thi thứ ba hằng năm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920240"/>
            <a:ext cx="5271516" cy="196596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6227" y="2048256"/>
            <a:ext cx="4942331" cy="9436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3D81"/>
                </a:solidFill>
                <a:latin typeface="Arial"/>
              </a:rPr>
              <a:t>3 năm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227" y="2903220"/>
            <a:ext cx="4942331" cy="90434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Không chọn cùng một môn thi thứ ba quá 03 năm liên tiếp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10817352" cy="1737360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224528"/>
            <a:ext cx="10305288" cy="15544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C7CFE0"/>
                </a:solidFill>
                <a:latin typeface="Calibri"/>
              </a:rPr>
              <a:t>Kế hoạch tuyển sinh THPT của địa phương cũng được công bố trước ngày 31/3 hằng năm.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C7CFE0"/>
                </a:solidFill>
                <a:latin typeface="Calibri"/>
              </a:rPr>
              <a:t>Vì vậy môn thi thứ ba luôn là thông tin công khai, biết trước — học sinh có thời gian ôn tập đúng hướng.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C7CFE0"/>
                </a:solidFill>
                <a:latin typeface="Calibri"/>
              </a:rPr>
              <a:t>Điều này khác với đề xuất ban đầu (bốc thăm môn ngẫu nhiên) từng gây tranh luận năm 2024.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43600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E7891"/>
                </a:solidFill>
                <a:latin typeface="Calibri"/>
              </a:rPr>
              <a:t>Nguồn: Điều 12, Điều 13 khoản 1 — Thông tư 30/2024/TT-BGDĐT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02 · MÔN 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Thời gian làm bài và nội dung thi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817352" cy="71323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6490411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F9FC"/>
                </a:solidFill>
                <a:latin typeface="Calibri"/>
              </a:rPr>
              <a:t>Ngữ văn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7379" y="1938528"/>
            <a:ext cx="3924604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C9F31D"/>
                </a:solidFill>
                <a:latin typeface="Calibri"/>
              </a:rPr>
              <a:t>120 phút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24912"/>
            <a:ext cx="10817352" cy="71323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43200"/>
            <a:ext cx="6490411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F9FC"/>
                </a:solidFill>
                <a:latin typeface="Calibri"/>
              </a:rPr>
              <a:t>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7379" y="2743200"/>
            <a:ext cx="3924604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22D3EE"/>
                </a:solidFill>
                <a:latin typeface="Calibri"/>
              </a:rPr>
              <a:t>90 hoặc 120 phút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817352" cy="71323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547872"/>
            <a:ext cx="6490411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F9FC"/>
                </a:solidFill>
                <a:latin typeface="Calibri"/>
              </a:rPr>
              <a:t>Môn thi thứ 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7379" y="3547872"/>
            <a:ext cx="3924604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FF3D81"/>
                </a:solidFill>
                <a:latin typeface="Calibri"/>
              </a:rPr>
              <a:t>60 hoặc 90 phút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34256"/>
            <a:ext cx="10817352" cy="71323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6490411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F9FC"/>
                </a:solidFill>
                <a:latin typeface="Calibri"/>
              </a:rPr>
              <a:t>Bài thi thứ ba (tổ hợp)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7379" y="4352544"/>
            <a:ext cx="3924604" cy="67665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FFB703"/>
                </a:solidFill>
                <a:latin typeface="Calibri"/>
              </a:rPr>
              <a:t>90 hoặc 120 phút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257800"/>
            <a:ext cx="10817352" cy="658368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2700">
            <a:solidFill>
              <a:srgbClr val="C9F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94376"/>
            <a:ext cx="10360152" cy="58521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F31D"/>
                </a:solidFill>
                <a:latin typeface="Calibri"/>
              </a:rPr>
              <a:t>Nội dung thi: trong chương trình GDPT cấp THCS — chủ yếu là kiến thức lớp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E7891"/>
                </a:solidFill>
                <a:latin typeface="Calibri"/>
              </a:rPr>
              <a:t>Nguồn: Điều 13 khoản 1c, 1d — Thông tư 30/2024/TT-BGDĐT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10" presetClass="entr" presetSubtype="0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10" presetClass="entr" presetSubtype="0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22" presetClass="entr" presetSubtype="4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9" dur="38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03 · XU HƯỚNG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Môn thứ ba năm 2025: cả nước chọn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108960" cy="146304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2779776" cy="702259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i="0">
                <a:solidFill>
                  <a:srgbClr val="C9F31D"/>
                </a:solidFill>
                <a:latin typeface="Arial"/>
              </a:rPr>
              <a:t>63/63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39"/>
            <a:ext cx="2779776" cy="67299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địa phương công bố phương án tuyển sinh lớp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874519"/>
            <a:ext cx="7525512" cy="1463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0" i="0">
                <a:solidFill>
                  <a:srgbClr val="C7CFE0"/>
                </a:solidFill>
                <a:latin typeface="Calibri"/>
              </a:rPr>
              <a:t>Đa số tỉnh, thành chọn Tiếng Anh (Ngoại ngữ 1) làm môn thi thứ ba.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C7CFE0"/>
                </a:solidFill>
                <a:latin typeface="Calibri"/>
              </a:rPr>
              <a:t>Ví dụ: Sở GD&amp;ĐT Tiền Giang cho biết 100% phòng GD&amp;ĐT các huyện, thị xã, thành phố chọn tiếng Anh khi được xin ý kiến.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5271516" cy="2194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703320"/>
            <a:ext cx="4832604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D3EE"/>
                </a:solidFill>
                <a:latin typeface="Arial"/>
              </a:rPr>
              <a:t>Chọn Tiếng Anh / Ngoại ngữ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142231"/>
            <a:ext cx="4832604" cy="104241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 i="0">
                <a:solidFill>
                  <a:srgbClr val="C7CFE0"/>
                </a:solidFill>
                <a:latin typeface="Calibri"/>
              </a:rPr>
              <a:t>Phần lớn các địa phương.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Ví dụ: TP.HCM, Hà Nội, Hải Phòng, Cần Thơ, Nghệ An, Lâm Đồng, Đồng Nai, Vĩnh Phúc…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5257800"/>
            <a:ext cx="4832604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VTV, 03/03/2025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3520440"/>
            <a:ext cx="5271516" cy="219456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1092" y="3703320"/>
            <a:ext cx="4832604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B703"/>
                </a:solidFill>
                <a:latin typeface="Arial"/>
              </a:rPr>
              <a:t>Ngoại lệ đáng chú 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092" y="4142231"/>
            <a:ext cx="4832604" cy="104241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C7CFE0"/>
                </a:solidFill>
                <a:latin typeface="Calibri"/>
              </a:rPr>
              <a:t>Hà Giang: Lịch sử và Địa lý.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C7CFE0"/>
                </a:solidFill>
                <a:latin typeface="Calibri"/>
              </a:rPr>
              <a:t>Bình Thuận: trường phổ thông dân tộc nội trú thi Lịch sử và Địa lý; các trường khác thi Tiếng Anh.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7CFE0"/>
                </a:solidFill>
                <a:latin typeface="Calibri"/>
              </a:rPr>
              <a:t>Xét tuyển (không thi): Cà Mau, Vĩnh Long, Gia Lai.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092" y="5257800"/>
            <a:ext cx="4832604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VTV, 03/03/2025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10" presetClass="entr" presetSubtype="0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04 · SỐ LIỆU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Hà Nội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C9F31D"/>
                </a:solidFill>
                <a:latin typeface="Arial"/>
              </a:rPr>
              <a:t>127.000+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thí sinh đăng ký nguyện vọng thi lớp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2D3EE"/>
                </a:solidFill>
                <a:latin typeface="Arial"/>
              </a:rPr>
              <a:t>79.740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502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chỉ tiêu vào 122 trường THPT công lập &amp; tự chủ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965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F3D81"/>
                </a:solidFill>
                <a:latin typeface="Arial"/>
              </a:rPr>
              <a:t>7–8/6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965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ngày thi năm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969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428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FB703"/>
                </a:solidFill>
                <a:latin typeface="Arial"/>
              </a:rPr>
              <a:t>60 phút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428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bài thi Ngoại ngữ (Toán, Ngữ văn: 120 phút)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21607"/>
            <a:ext cx="237744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Môn thi thứ 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3721607"/>
            <a:ext cx="803757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Ngoại ngữ (Anh, Pháp, Đức, Nhật, Hàn) — công bố 26/2/2025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71416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489703"/>
            <a:ext cx="237744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Điểm xét tuyển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4489703"/>
            <a:ext cx="803757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Toán + Ngữ văn + môn thứ ba + điểm ưu tiên + khuyến khích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39512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257799"/>
            <a:ext cx="237744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Điểm chuẩn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5257799"/>
            <a:ext cx="803757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công bố chiều 4/7, cùng ngày công bố điểm thi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98464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Tuổi Trẻ 11/4/2025 · VietnamPlus 24/02/2025 · VnExpress 26/02/2025 · VOV2 24/02/2025 · giaoduc247.vn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22" presetClass="entr" presetSubtype="4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10" presetClass="entr" presetSubtype="0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10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10" presetClass="entr" presetSubtype="0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8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04 · SỐ LIỆU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TP.HCM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C9F31D"/>
                </a:solidFill>
                <a:latin typeface="Arial"/>
              </a:rPr>
              <a:t>70.070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chỉ tiêu lớp 10 công lập (≈79% số tốt nghiệp THCS)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2D3EE"/>
                </a:solidFill>
                <a:latin typeface="Arial"/>
              </a:rPr>
              <a:t>76.435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502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thí sinh đăng ký thi lớp 10 thường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965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F3D81"/>
                </a:solidFill>
                <a:latin typeface="Arial"/>
              </a:rPr>
              <a:t>6–7/6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965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ngày thi năm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969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428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FB703"/>
                </a:solidFill>
                <a:latin typeface="Arial"/>
              </a:rPr>
              <a:t>90 phút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428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bài thi Ngoại ngữ (Toán, Ngữ văn: 120 phút)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21607"/>
            <a:ext cx="274320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Đăng ký nguyện vọng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721607"/>
            <a:ext cx="767181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tối đa 3 NV thường + 2 NV chuyên + 3 NV tích hợp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71416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489703"/>
            <a:ext cx="274320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Nguyên tắc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489703"/>
            <a:ext cx="767181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trúng NV nào phải học NV đó, không được thay đổi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39512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257799"/>
            <a:ext cx="274320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Điều kiện trúng tuyển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5257799"/>
            <a:ext cx="767181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dự thi đủ 3 bài và không có bài thi nào bị điểm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98464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Sở GD&amp;ĐT TP.HCM (15/5/2025) · Tuổi Trẻ 25/4/2025 · VnExpress 11/4/2025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22" presetClass="entr" presetSubtype="4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10" presetClass="entr" presetSubtype="0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10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10" presetClass="entr" presetSubtype="0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8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04 · SỐ LIỆU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Cần Thơ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C9F31D"/>
                </a:solidFill>
                <a:latin typeface="Arial"/>
              </a:rPr>
              <a:t>5–6/6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ngày thi năm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2D3EE"/>
                </a:solidFill>
                <a:latin typeface="Arial"/>
              </a:rPr>
              <a:t>11.057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502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thí sinh đăng ký dự thi THPT công lập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965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F3D81"/>
                </a:solidFill>
                <a:latin typeface="Arial"/>
              </a:rPr>
              <a:t>60 phút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965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bài thi Ngoại ngữ (Toán, Ngữ văn: 120 phút)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9690" y="1874519"/>
            <a:ext cx="2553462" cy="1600200"/>
          </a:xfrm>
          <a:prstGeom prst="roundRect">
            <a:avLst>
              <a:gd name="adj" fmla="val 7000"/>
            </a:avLst>
          </a:prstGeom>
          <a:solidFill>
            <a:srgbClr val="1B2440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4282" y="2002536"/>
            <a:ext cx="2224278" cy="7680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FB703"/>
                </a:solidFill>
                <a:latin typeface="Arial"/>
              </a:rPr>
              <a:t>14/6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4282" y="2674620"/>
            <a:ext cx="2224278" cy="7360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7CFE0"/>
                </a:solidFill>
                <a:latin typeface="Calibri"/>
              </a:rPr>
              <a:t>ngày công bố kết quả thi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21607"/>
            <a:ext cx="265176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Môn thi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721607"/>
            <a:ext cx="776325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Toán, Ngữ văn và Ngoại ngữ (tiếng Anh hoặc tiếng Pháp)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71416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489703"/>
            <a:ext cx="265176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Cách tính điểm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489703"/>
            <a:ext cx="776325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tổng điểm 3 môn + điểm ưu tiên; làm tròn 2 chữ số thập phân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39512"/>
            <a:ext cx="10817352" cy="676656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257799"/>
            <a:ext cx="2651760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7F9FC"/>
                </a:solidFill>
                <a:latin typeface="Calibri"/>
              </a:rPr>
              <a:t>Thay đổi năm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5257799"/>
            <a:ext cx="7763256" cy="6400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7CFE0"/>
                </a:solidFill>
                <a:latin typeface="Calibri"/>
              </a:rPr>
              <a:t>không nhân hệ số 2 môn Ngữ văn, Toán như các năm trước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98464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Tuổi Trẻ 19/3/2025 (kế hoạch của UBND TP Cần Thơ) · Tuổi Trẻ 14/6/2025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22" presetClass="entr" presetSubtype="4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10" presetClass="entr" presetSubtype="0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10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10" presetClass="entr" presetSubtype="0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8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05 · ĐIỂM &amp; NGUYỆN VỌNG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Điểm xét tuyển và các loại điểm cộng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17352" cy="169164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057400"/>
            <a:ext cx="10378440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9F31D"/>
                </a:solidFill>
                <a:latin typeface="Arial"/>
              </a:rPr>
              <a:t>Điểm xét tuyển = tổng điểm các môn thi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96312"/>
            <a:ext cx="10378440" cy="85039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0" i="0">
                <a:solidFill>
                  <a:srgbClr val="C7CFE0"/>
                </a:solidFill>
                <a:latin typeface="Calibri"/>
              </a:rPr>
              <a:t>Mỗi môn thi, bài thi tính theo thang điểm 10.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C7CFE0"/>
                </a:solidFill>
                <a:latin typeface="Calibri"/>
              </a:rPr>
              <a:t>Điểm chuẩn được công bố đồng thời với điểm thi (Điều 13 khoản 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5271516" cy="20116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886200"/>
            <a:ext cx="4832604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2D3EE"/>
                </a:solidFill>
                <a:latin typeface="Arial"/>
              </a:rPr>
              <a:t>Điểm ưu tiên (Điều 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4325112"/>
            <a:ext cx="4832604" cy="117043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C7CFE0"/>
                </a:solidFill>
                <a:latin typeface="Calibri"/>
              </a:rPr>
              <a:t>Nhóm 1: +2,0 điểm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C7CFE0"/>
                </a:solidFill>
                <a:latin typeface="Calibri"/>
              </a:rPr>
              <a:t>Nhóm 2: +1,5 điểm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C7CFE0"/>
                </a:solidFill>
                <a:latin typeface="Calibri"/>
              </a:rPr>
              <a:t>Nhóm 3: +1,0 điểm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3703320"/>
            <a:ext cx="5271516" cy="20116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1092" y="3886200"/>
            <a:ext cx="4832604" cy="38404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3D81"/>
                </a:solidFill>
                <a:latin typeface="Arial"/>
              </a:rPr>
              <a:t>Điểm khuyến khích (Điều 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092" y="4325112"/>
            <a:ext cx="4832604" cy="1170431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C7CFE0"/>
                </a:solidFill>
                <a:latin typeface="Calibri"/>
              </a:rPr>
              <a:t>Giải nhất: +1,5 điểm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C7CFE0"/>
                </a:solidFill>
                <a:latin typeface="Calibri"/>
              </a:rPr>
              <a:t>Giải nhì: +1,0 điểm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C7CFE0"/>
                </a:solidFill>
                <a:latin typeface="Calibri"/>
              </a:rPr>
              <a:t>Giải ba: +0,5 điểm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43600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E7891"/>
                </a:solidFill>
                <a:latin typeface="Calibri"/>
              </a:rPr>
              <a:t>Nguồn: Điều 13 khoản 6, Điều 14 — Thông tư 30/2024/TT-BGDĐT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10" presetClass="entr" presetSubtype="0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05 · ĐIỂM &amp; NGUYỆN VỌNG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Ai được tuyển thẳng vào lớp 10?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17352" cy="65836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01951"/>
            <a:ext cx="54864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9F31D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901951"/>
            <a:ext cx="976579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7F9FC"/>
                </a:solidFill>
                <a:latin typeface="Calibri"/>
              </a:rPr>
              <a:t>Học sinh trường phổ thông dân tộc nội trú cấp THCS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24327"/>
            <a:ext cx="10817352" cy="65836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51759"/>
            <a:ext cx="54864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D3EE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651759"/>
            <a:ext cx="976579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7F9FC"/>
                </a:solidFill>
                <a:latin typeface="Calibri"/>
              </a:rPr>
              <a:t>Học sinh là người dân tộc thiểu số rất ít người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74135"/>
            <a:ext cx="10817352" cy="65836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401567"/>
            <a:ext cx="54864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3D81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401567"/>
            <a:ext cx="976579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7F9FC"/>
                </a:solidFill>
                <a:latin typeface="Calibri"/>
              </a:rPr>
              <a:t>Học sinh là người khuyết tật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23944"/>
            <a:ext cx="10817352" cy="65836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151376"/>
            <a:ext cx="54864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B703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51376"/>
            <a:ext cx="976579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7F9FC"/>
                </a:solidFill>
                <a:latin typeface="Calibri"/>
              </a:rPr>
              <a:t>Đạt giải cấp quốc gia về văn hóa, văn nghệ, thể thao hoặc cuộc thi nghiên cứu khoa học, kĩ thuật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73752"/>
            <a:ext cx="10817352" cy="65836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901184"/>
            <a:ext cx="548640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9F31D"/>
                </a:solidFill>
                <a:latin typeface="Arial"/>
              </a:rPr>
              <a:t>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01184"/>
            <a:ext cx="9765792" cy="60350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7F9FC"/>
                </a:solidFill>
                <a:latin typeface="Calibri"/>
              </a:rPr>
              <a:t>Đạt giải trong các cuộc thi quốc tế do Bộ trưởng Bộ GD&amp;ĐT quyết định cử tham dự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42432"/>
            <a:ext cx="10817352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4AB"/>
                </a:solidFill>
                <a:latin typeface="Calibri"/>
              </a:rPr>
              <a:t>Lưu ý: ngoài tuyển thẳng, Điều 14 còn quy định điểm ưu tiên (3 nhóm) và điểm khuyến khích.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80760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Điều 14 khoản 1 — Thông tư 30/2024/TT-BGDĐT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22" presetClass="entr" presetSubtype="4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22" presetClass="entr" presetSubtype="4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9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05 · ĐIỂM &amp; NGUYỆN VỌNG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Dòng thời gian kỳ thi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8580" cy="566928"/>
          </a:xfrm>
          <a:prstGeom prst="rect">
            <a:avLst/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847088"/>
            <a:ext cx="169164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F31D"/>
                </a:solidFill>
                <a:latin typeface="Arial"/>
              </a:rPr>
              <a:t>30/12/2024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847088"/>
            <a:ext cx="8577072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7F9FC"/>
                </a:solidFill>
                <a:latin typeface="Calibri"/>
              </a:rPr>
              <a:t>Bộ GD&amp;ĐT ban hành Thông tư 30/2024/TT-BGDĐT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32304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432304"/>
            <a:ext cx="6858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450592"/>
            <a:ext cx="169164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Arial"/>
              </a:rPr>
              <a:t>14/02/2025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450592"/>
            <a:ext cx="8577072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7F9FC"/>
                </a:solidFill>
                <a:latin typeface="Calibri"/>
              </a:rPr>
              <a:t>Thông tư có hiệu lực thi hành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35808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035808"/>
            <a:ext cx="68580" cy="566928"/>
          </a:xfrm>
          <a:prstGeom prst="rect">
            <a:avLst/>
          </a:prstGeom>
          <a:solidFill>
            <a:srgbClr val="FF3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054096"/>
            <a:ext cx="169164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3D81"/>
                </a:solidFill>
                <a:latin typeface="Arial"/>
              </a:rPr>
              <a:t>26/02/2025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054096"/>
            <a:ext cx="8577072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7F9FC"/>
                </a:solidFill>
                <a:latin typeface="Calibri"/>
              </a:rPr>
              <a:t>Hà Nội công bố môn thi thứ ba: Ngoại ngữ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39312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39312"/>
            <a:ext cx="68580" cy="566928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657600"/>
            <a:ext cx="169164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703"/>
                </a:solidFill>
                <a:latin typeface="Arial"/>
              </a:rPr>
              <a:t>Đầu 4/2025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657600"/>
            <a:ext cx="8577072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7F9FC"/>
                </a:solidFill>
                <a:latin typeface="Calibri"/>
              </a:rPr>
              <a:t>TP.HCM công bố 70.070 chỉ tiêu lớp 10 công lập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42816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242816"/>
            <a:ext cx="68580" cy="566928"/>
          </a:xfrm>
          <a:prstGeom prst="rect">
            <a:avLst/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261104"/>
            <a:ext cx="169164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F31D"/>
                </a:solidFill>
                <a:latin typeface="Arial"/>
              </a:rPr>
              <a:t>11/4/2025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261104"/>
            <a:ext cx="8577072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7F9FC"/>
                </a:solidFill>
                <a:latin typeface="Calibri"/>
              </a:rPr>
              <a:t>Hà Nội công bố 79.740 chỉ tiêu vào 122 trường công lập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46320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846320"/>
            <a:ext cx="6858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864608"/>
            <a:ext cx="169164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Arial"/>
              </a:rPr>
              <a:t>5–7/6/2025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864608"/>
            <a:ext cx="8577072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7F9FC"/>
                </a:solidFill>
                <a:latin typeface="Calibri"/>
              </a:rPr>
              <a:t>Các địa phương tổ chức thi (Cần Thơ 5–6/6; TP.HCM 6–7/6; Hà Nội 7–8/6)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49824"/>
            <a:ext cx="10817352" cy="56692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9824"/>
            <a:ext cx="68580" cy="566928"/>
          </a:xfrm>
          <a:prstGeom prst="rect">
            <a:avLst/>
          </a:prstGeom>
          <a:solidFill>
            <a:srgbClr val="FF3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468112"/>
            <a:ext cx="169164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3D81"/>
                </a:solidFill>
                <a:latin typeface="Arial"/>
              </a:rPr>
              <a:t>14/6 → 4/7/2025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468112"/>
            <a:ext cx="8577072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7F9FC"/>
                </a:solidFill>
                <a:latin typeface="Calibri"/>
              </a:rPr>
              <a:t>Cần Thơ công bố kết quả (14/6); Hà Nội công bố điểm thi &amp; điểm chuẩn (4/7)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08192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Nguồn: Thông tư 30/2024/TT-BGDĐT · VnExpress · Tuổi Trẻ · giaoduc247.vn · Sở GD&amp;ĐT TP.HCM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22" presetClass="entr" presetSubtype="4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22" presetClass="entr" presetSubtype="4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2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10" presetClass="entr" presetSubtype="0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8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22" presetClass="entr" presetSubtype="4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10" presetClass="entr" presetSubtype="0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8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dur="380" presetID="10" presetClass="entr" presetSubtype="0" fill="hold" grpId="0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dur="380" presetID="22" presetClass="entr" presetSubtype="4" fill="hold" grpId="0" nodeType="withEffect">
                            <p:stCondLst>
                              <p:cond delay="162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0" dur="38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dur="380" presetID="10" presetClass="entr" presetSubtype="0" fill="hold" grpId="0" nodeType="withEffect">
                            <p:stCondLst>
                              <p:cond delay="171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8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dur="380" presetID="10" presetClass="entr" presetSubtype="0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8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dur="380" presetID="22" presetClass="entr" presetSubtype="4" fill="hold" grpId="0" nodeType="withEffect">
                            <p:stCondLst>
                              <p:cond delay="189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9" dur="38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dur="380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8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dur="380" presetID="10" presetClass="entr" presetSubtype="0" fill="hold" grpId="0" nodeType="withEffect">
                            <p:stCondLst>
                              <p:cond delay="207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8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  <p:bldP spid="24" grpId="0"/>
      <p:bldP spid="25" grpId="0"/>
      <p:bldP spid="26" grpId="0"/>
      <p:bldP spid="28" grpId="0"/>
      <p:bldP spid="29" grpId="0"/>
      <p:bldP spid="30" grpId="0"/>
      <p:bldP spid="32" grpId="0"/>
      <p:bldP spid="33" grpId="0"/>
      <p:bldP spid="34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PHẦN 05 · ĐIỂM &amp; NGUYỆN VỌNG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Checklist trước ngày thi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71516" cy="84124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39"/>
            <a:ext cx="457200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9F31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920239"/>
            <a:ext cx="4311396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Biết địa phương mình tuyển sinh theo phương thức nào: xét tuyển, thi tuyển hay kết hợp.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07208"/>
            <a:ext cx="5271516" cy="84124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52927"/>
            <a:ext cx="457200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2852927"/>
            <a:ext cx="4311396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Theo dõi công bố môn thi thứ ba — muộn nhất 31/3 hằng năm.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39896"/>
            <a:ext cx="5271516" cy="84124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785615"/>
            <a:ext cx="457200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3D8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785615"/>
            <a:ext cx="4311396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Đọc kỹ kế hoạch tuyển sinh &amp; chỉ tiêu của Sở GD&amp;ĐT địa phương.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72583"/>
            <a:ext cx="5271516" cy="84124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718303"/>
            <a:ext cx="457200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703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4718303"/>
            <a:ext cx="4311396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Ôn chắc kiến thức lớp 9 — nội dung thi chủ yếu nằm ở lớp 9.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874519"/>
            <a:ext cx="5271516" cy="84124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2804" y="1920239"/>
            <a:ext cx="457200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9F31D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1444" y="1920239"/>
            <a:ext cx="4037075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Chuẩn bị hồ sơ nếu thuộc diện tuyển thẳng / ưu tiên / khuyến khích.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807208"/>
            <a:ext cx="5271516" cy="84124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2804" y="2852927"/>
            <a:ext cx="457200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1444" y="2852927"/>
            <a:ext cx="4037075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TP.HCM: dự thi đủ 3 bài và không để bài thi nào bị điểm 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739896"/>
            <a:ext cx="5271516" cy="841248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785615"/>
            <a:ext cx="457200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3D81"/>
                </a:solidFill>
                <a:latin typeface="Arial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1444" y="3785615"/>
            <a:ext cx="4037075" cy="7498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Nắm quy định nguyện vọng của thành phố mình trước khi đăng ký.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4672583"/>
            <a:ext cx="5271516" cy="123444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5875">
            <a:solidFill>
              <a:srgbClr val="C9F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2804" y="4745736"/>
            <a:ext cx="4869179" cy="10972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C9F31D"/>
                </a:solidFill>
                <a:latin typeface="Calibri"/>
              </a:rPr>
              <a:t>Note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7CFE0"/>
                </a:solidFill>
                <a:latin typeface="Calibri"/>
              </a:rPr>
              <a:t>Môn thứ ba công bố muộn nhất 31/3 → bạn có thêm thời gian để "tune" lại kế hoạch ôn tập.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22" presetClass="entr" presetSubtype="4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22" presetClass="entr" presetSubtype="4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3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22" presetClass="entr" presetSubtype="4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9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22" presetClass="entr" presetSubtype="4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5" dur="38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10" presetClass="entr" presetSubtype="0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22" presetClass="entr" presetSubtype="4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dur="380" presetID="10" presetClass="entr" presetSubtype="0" fill="hold" grpId="0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8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dur="380" presetID="22" presetClass="entr" presetSubtype="4" fill="hold" grpId="0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7" dur="38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dur="380" presetID="10" presetClass="entr" presetSubtype="0" fill="hold" grpId="0" nodeType="withEffect">
                            <p:stCondLst>
                              <p:cond delay="162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8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6" grpId="0"/>
      <p:bldP spid="27" grpId="0"/>
      <p:bldP spid="28" grpId="0"/>
      <p:bldP spid="29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GIẢI LAO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Góc hài hước (tự thêm joke của bạn)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17352" cy="224028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9050">
            <a:solidFill>
              <a:srgbClr val="C9F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994392" cy="19659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2600" b="1" i="0">
                <a:solidFill>
                  <a:srgbClr val="C9F31D"/>
                </a:solidFill>
                <a:latin typeface="Calibri"/>
              </a:rPr>
              <a:t>[Dán câu joke của bạn vào đây]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A94AB"/>
                </a:solidFill>
                <a:latin typeface="Calibri"/>
              </a:rPr>
              <a:t>Khung này đã chừa sẵn chỗ — cứ gõ đè lên dòng chữ trong ngoặc vuông.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97680"/>
            <a:ext cx="10817352" cy="123444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07408"/>
            <a:ext cx="9994392" cy="10058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7F9FC"/>
                </a:solidFill>
                <a:latin typeface="Calibri"/>
              </a:rPr>
              <a:t>Còn môn thi thứ ba thì sao?</a:t>
            </a:r>
          </a:p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C7CFE0"/>
                </a:solidFill>
                <a:latin typeface="Calibri"/>
              </a:rPr>
              <a:t>"Bí mật" dài nhất cũng chỉ tới 31/3 — sau đó cả nước biết môn mình thi.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10817352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E7891"/>
                </a:solidFill>
                <a:latin typeface="Calibri"/>
              </a:rPr>
              <a:t>Mẹo nhỏ: muốn đổi joke, bấm vào khung và sửa chữ — không cần chỉnh thiết kế slide.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53328"/>
            <a:ext cx="10817352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E7891"/>
                </a:solidFill>
                <a:latin typeface="Calibri"/>
              </a:rPr>
              <a:t>Quy định được nhắc ở đây: Điều 13 khoản 1b — Thông tư 30/2024/TT-BGDĐT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17352" cy="2926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F31D"/>
                </a:solidFill>
                <a:latin typeface="Calibri"/>
              </a:rPr>
              <a:t>MINH BẠCH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58368"/>
            <a:ext cx="10817352" cy="74980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7F9FC"/>
                </a:solidFill>
                <a:latin typeface="Arial"/>
              </a:rPr>
              <a:t>Nguồn tham khảo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51560" cy="59436"/>
          </a:xfrm>
          <a:prstGeom prst="roundRect">
            <a:avLst>
              <a:gd name="adj" fmla="val 9000"/>
            </a:avLst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74519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Thông tư 30/2024/TT-BGDĐT (toàn văn)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Bộ GD&amp;ĐT · 30/12/2024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47088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227" y="1874519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Chỉ tiêu tuyển sinh lớp 10 tại Hà Nội: 79.740 suất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Tuổi Trẻ · 11/4/2025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05456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532888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TOÀN VĂN: Thông tư 30/TT-BGDĐT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Cổng TTĐT Chính phủ · 04/02/2025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505456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6227" y="2532888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Công bố chỉ tiêu lớp 10 công lập ở TP HCM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VnExpress · 11/4/2025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63824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191256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Bộ Giáo dục chốt quy chế thi lớp 10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VnExpress · 08/01/2025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3163824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6227" y="3191256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Số thí sinh đăng ký dự thi lớp 10 TP.HCM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Sở GD&amp;ĐT TP.HCM · 15/5/2025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22191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49624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Chi tiết môn thi thứ 3 vào lớp 10 của 63 tỉnh thành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VTV · 03/03/2025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3822191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6227" y="3849624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Kỳ thi tuyển sinh lớp 10 TP Cần Thơ; công bố điểm thi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Tuổi Trẻ · 19/3 &amp; 14/6/2025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0560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507992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Hà Nội công bố môn thứ ba thi lớp 10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VnExpress · 26/02/2025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4480560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6227" y="4507992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Môn thi thứ ba vào lớp 10 tại 63 tỉnh thành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Dân trí · 20/01/2025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38927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166359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Chi tiết lịch thi tuyển sinh vào lớp 10 của Hà Nội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VietnamPlus · 24/02/2025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5138927"/>
            <a:ext cx="5271516" cy="585216"/>
          </a:xfrm>
          <a:prstGeom prst="roundRect">
            <a:avLst>
              <a:gd name="adj" fmla="val 7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5166359"/>
            <a:ext cx="4942331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F7F9FC"/>
                </a:solidFill>
                <a:latin typeface="Calibri"/>
              </a:rPr>
              <a:t>Hà Nội: hơn 127.000 thí sinh; điểm chuẩn 4/7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giaoduc247.vn ·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53328"/>
            <a:ext cx="10817352" cy="310896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A94AB"/>
                </a:solidFill>
                <a:latin typeface="Calibri"/>
              </a:rPr>
              <a:t>Đường dẫn đầy đủ của từng nguồn nằm trong phần ghi chú (speaker notes) của slide này.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22" presetClass="entr" presetSubtype="4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10" presetClass="entr" presetSubtype="0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10" presetClass="entr" presetSubtype="0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8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dur="38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8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dur="38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dur="380" presetID="10" presetClass="entr" presetSubtype="0" fill="hold" grpId="0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8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dur="380" presetID="10" presetClass="entr" presetSubtype="0" fill="hold" grpId="0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8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dur="380" presetID="10" presetClass="entr" presetSubtype="0" fill="hold" grpId="0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8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dur="380" presetID="10" presetClass="entr" presetSubtype="0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8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146304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F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692640" cy="11887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7F9FC"/>
                </a:solidFill>
                <a:latin typeface="Arial"/>
              </a:rPr>
              <a:t>Cảm ơn!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9509760" cy="4572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F31D"/>
                </a:solidFill>
                <a:latin typeface="Calibri"/>
              </a:rPr>
              <a:t>3 điều nên nhớ trước khi rời khỏi slide này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794760"/>
            <a:ext cx="10424160" cy="603504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822192"/>
            <a:ext cx="41148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F31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822192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Thi tuyển lớp 10 = Toán + Ngữ văn + môn thứ ba (công bố muộn nhất 31/3).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471416"/>
            <a:ext cx="10424160" cy="603504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4498848"/>
            <a:ext cx="41148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D3EE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498848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Điểm xét tuyển theo thang điểm 10 cho mỗi môn; điểm chuẩn công bố cùng ngày với điểm thi.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148072"/>
            <a:ext cx="10424160" cy="603504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175504"/>
            <a:ext cx="41148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3D8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175504"/>
            <a:ext cx="950976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CFE0"/>
                </a:solidFill>
                <a:latin typeface="Calibri"/>
              </a:rPr>
              <a:t>Số liệu trong bài là của kỳ thi năm 2025 — các năm sau có thể khác.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870448"/>
            <a:ext cx="9509760" cy="365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8A94AB"/>
                </a:solidFill>
                <a:latin typeface="Calibri"/>
              </a:rPr>
              <a:t>Hỏi đáp (Q&amp;A) — nguồn đầy đủ ở slide 17.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91"/>
                </a:solidFill>
                <a:latin typeface="Calibri"/>
              </a:rPr>
              <a:t>Tuyển sinh lớp 10 · Việt Nam · 2025 — số liệu kỳ thi năm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872" y="6382512"/>
            <a:ext cx="1097280" cy="2743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C9F31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dur="380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" dur="38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380" presetID="10" presetClass="entr" presetSubtype="0" fill="hold" grpId="0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38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380" presetID="22" presetClass="entr" presetSubtype="4" fill="hold" grpId="0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38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38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380" presetID="22" presetClass="entr" presetSubtype="4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38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380" presetID="22" presetClass="entr" presetSubtype="4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38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38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380" presetID="10" presetClass="entr" presetSubtype="0" fill="hold" grpId="0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1" grpId="0"/>
      <p:bldP spid="12" grpId="0"/>
      <p:bldP spid="14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Tuyển sinh lớp 10 năm 2025 tại Việt Nam</dc:title>
  <dc:subject>Thông tin tuyển sinh lớp 10 năm 2025 (kỳ thi 2025)</dc:subject>
  <dc:creator/>
  <cp:keywords/>
  <dc:description>Dữ liệu kỳ thi năm 2025. Nguồn được ghi trên slide 'Nguồn tham khảo' và trong ghi chú của từng slide.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